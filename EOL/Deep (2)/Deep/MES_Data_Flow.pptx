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087600" cy="10698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57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087600" cy="822960"/>
          </a:xfrm>
          <a:prstGeom prst="rect">
            <a:avLst/>
          </a:prstGeom>
          <a:solidFill>
            <a:srgbClr val="4A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 dirty="0">
                <a:solidFill>
                  <a:srgbClr val="FFFFFF"/>
                </a:solidFill>
                <a:latin typeface="Calibri"/>
              </a:rPr>
              <a:t>MES Data Flow</a:t>
            </a:r>
          </a:p>
        </p:txBody>
      </p:sp>
      <p:sp>
        <p:nvSpPr>
          <p:cNvPr id="3" name="Oval 2"/>
          <p:cNvSpPr/>
          <p:nvPr/>
        </p:nvSpPr>
        <p:spPr>
          <a:xfrm>
            <a:off x="5989320" y="1005839"/>
            <a:ext cx="3108960" cy="1097281"/>
          </a:xfrm>
          <a:prstGeom prst="ellipse">
            <a:avLst/>
          </a:prstGeom>
          <a:solidFill>
            <a:srgbClr val="52C41A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EOL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17419" y="1336081"/>
            <a:ext cx="3680460" cy="307777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lang="en-US" sz="1400" b="1" dirty="0">
                <a:latin typeface="Calibri"/>
              </a:rPr>
              <a:t>Final</a:t>
            </a:r>
            <a:r>
              <a:rPr sz="1400" b="1" dirty="0">
                <a:latin typeface="Calibri"/>
              </a:rPr>
              <a:t> Assembly </a:t>
            </a:r>
            <a:r>
              <a:rPr lang="en-US" sz="1400" b="1" dirty="0">
                <a:latin typeface="Calibri"/>
              </a:rPr>
              <a:t>Inspection Machine</a:t>
            </a:r>
            <a:endParaRPr sz="1400" b="1" dirty="0"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057399" y="2743200"/>
            <a:ext cx="3291840" cy="1536193"/>
          </a:xfrm>
          <a:prstGeom prst="roundRect">
            <a:avLst/>
          </a:prstGeom>
          <a:solidFill>
            <a:srgbClr val="1F497D"/>
          </a:solidFill>
          <a:ln w="15875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 Q series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PLC</a:t>
            </a:r>
          </a:p>
          <a:p>
            <a:pPr algn="l"/>
            <a:r>
              <a:rPr sz="1100" b="0" dirty="0">
                <a:solidFill>
                  <a:schemeClr val="bg1"/>
                </a:solidFill>
                <a:latin typeface="Calibri"/>
              </a:rPr>
              <a:t>•  status</a:t>
            </a:r>
          </a:p>
          <a:p>
            <a:pPr algn="l"/>
            <a:r>
              <a:rPr sz="1100" b="0" dirty="0">
                <a:solidFill>
                  <a:schemeClr val="bg1"/>
                </a:solidFill>
                <a:latin typeface="Calibri"/>
              </a:rPr>
              <a:t>•  OK / NG counts</a:t>
            </a:r>
          </a:p>
          <a:p>
            <a:pPr algn="l"/>
            <a:r>
              <a:rPr sz="1100" b="0" dirty="0">
                <a:solidFill>
                  <a:schemeClr val="bg1"/>
                </a:solidFill>
                <a:latin typeface="Calibri"/>
              </a:rPr>
              <a:t>•  cycle time</a:t>
            </a:r>
          </a:p>
          <a:p>
            <a:pPr algn="l"/>
            <a:r>
              <a:rPr sz="1100" b="0" dirty="0">
                <a:solidFill>
                  <a:schemeClr val="bg1"/>
                </a:solidFill>
                <a:latin typeface="Calibri"/>
              </a:rPr>
              <a:t>•  model running</a:t>
            </a:r>
          </a:p>
          <a:p>
            <a:pPr algn="l"/>
            <a:r>
              <a:rPr sz="1100" b="0" dirty="0">
                <a:solidFill>
                  <a:schemeClr val="bg1"/>
                </a:solidFill>
                <a:latin typeface="Calibri"/>
              </a:rPr>
              <a:t>•  Poka-Yoke checks</a:t>
            </a:r>
          </a:p>
          <a:p>
            <a:pPr algn="l"/>
            <a:r>
              <a:rPr sz="1100" b="0" dirty="0">
                <a:solidFill>
                  <a:schemeClr val="bg1"/>
                </a:solidFill>
                <a:latin typeface="Calibri"/>
              </a:rPr>
              <a:t>•  per-sub-station counts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97879" y="2743200"/>
            <a:ext cx="3291840" cy="1536193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 Bullet </a:t>
            </a:r>
            <a:r>
              <a:rPr sz="1600" b="1" dirty="0">
                <a:solidFill>
                  <a:srgbClr val="FFFFFF"/>
                </a:solidFill>
                <a:latin typeface="Calibri"/>
              </a:rPr>
              <a:t>Camera</a:t>
            </a:r>
            <a:endParaRPr lang="en-US" sz="160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600" b="1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100" b="0" dirty="0">
                <a:solidFill>
                  <a:srgbClr val="1A202C"/>
                </a:solidFill>
                <a:latin typeface="Calibri"/>
              </a:rPr>
              <a:t>•  live video stream</a:t>
            </a:r>
          </a:p>
          <a:p>
            <a:pPr algn="l"/>
            <a:r>
              <a:rPr sz="1100" b="0" dirty="0">
                <a:solidFill>
                  <a:srgbClr val="1A202C"/>
                </a:solidFill>
                <a:latin typeface="Calibri"/>
              </a:rPr>
              <a:t>•  per-cycle recording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38359" y="2743200"/>
            <a:ext cx="3291840" cy="1536193"/>
          </a:xfrm>
          <a:prstGeom prst="roundRect">
            <a:avLst/>
          </a:prstGeom>
          <a:solidFill>
            <a:srgbClr val="E26D0F"/>
          </a:solidFill>
          <a:ln w="15875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Andon Box</a:t>
            </a:r>
          </a:p>
          <a:p>
            <a:pPr algn="l"/>
            <a:r>
              <a:rPr sz="1100" b="0" dirty="0">
                <a:solidFill>
                  <a:srgbClr val="1A202C"/>
                </a:solidFill>
                <a:latin typeface="Calibri"/>
              </a:rPr>
              <a:t>•  visual alert state</a:t>
            </a:r>
          </a:p>
          <a:p>
            <a:pPr algn="l"/>
            <a:r>
              <a:rPr sz="1100" b="0" dirty="0">
                <a:solidFill>
                  <a:srgbClr val="1A202C"/>
                </a:solidFill>
                <a:latin typeface="Calibri"/>
              </a:rPr>
              <a:t>•  operator events</a:t>
            </a:r>
          </a:p>
          <a:p>
            <a:pPr algn="l"/>
            <a:r>
              <a:rPr sz="1100" b="0" dirty="0">
                <a:solidFill>
                  <a:srgbClr val="1A202C"/>
                </a:solidFill>
                <a:latin typeface="Calibri"/>
              </a:rPr>
              <a:t>•  audible alarm</a:t>
            </a: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 rot="10800000" flipV="1">
            <a:off x="3703320" y="2148839"/>
            <a:ext cx="3840480" cy="274320"/>
          </a:xfrm>
          <a:prstGeom prst="bentConnector3">
            <a:avLst/>
          </a:prstGeom>
          <a:ln w="22225">
            <a:solidFill>
              <a:srgbClr val="1A202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2148839"/>
            <a:ext cx="0" cy="594361"/>
          </a:xfrm>
          <a:prstGeom prst="bentConnector3">
            <a:avLst/>
          </a:prstGeom>
          <a:ln w="22225">
            <a:solidFill>
              <a:srgbClr val="1A202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cxnSpLocks/>
          </p:cNvCxnSpPr>
          <p:nvPr/>
        </p:nvCxnSpPr>
        <p:spPr>
          <a:xfrm>
            <a:off x="7543800" y="2148839"/>
            <a:ext cx="3703319" cy="228601"/>
          </a:xfrm>
          <a:prstGeom prst="bentConnector3">
            <a:avLst>
              <a:gd name="adj1" fmla="val 50000"/>
            </a:avLst>
          </a:prstGeom>
          <a:ln w="22225">
            <a:solidFill>
              <a:srgbClr val="1A202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0" y="5240221"/>
            <a:ext cx="5943600" cy="527537"/>
          </a:xfrm>
          <a:prstGeom prst="roundRect">
            <a:avLst/>
          </a:prstGeom>
          <a:solidFill>
            <a:srgbClr val="1F497D"/>
          </a:solidFill>
          <a:ln w="254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Collector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097280" y="5384404"/>
            <a:ext cx="6858000" cy="26161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lang="en-US" sz="1100" dirty="0">
                <a:latin typeface="Calibri"/>
              </a:rPr>
              <a:t>R</a:t>
            </a:r>
            <a:r>
              <a:rPr sz="1100" dirty="0">
                <a:latin typeface="Calibri"/>
              </a:rPr>
              <a:t>eads every machine continuously   ·   logs all events to the database</a:t>
            </a:r>
          </a:p>
        </p:txBody>
      </p:sp>
      <p:cxnSp>
        <p:nvCxnSpPr>
          <p:cNvPr id="13" name="Connector 12"/>
          <p:cNvCxnSpPr>
            <a:cxnSpLocks/>
            <a:stCxn id="5" idx="2"/>
          </p:cNvCxnSpPr>
          <p:nvPr/>
        </p:nvCxnSpPr>
        <p:spPr>
          <a:xfrm rot="16200000" flipH="1">
            <a:off x="5480773" y="2501939"/>
            <a:ext cx="285572" cy="3840480"/>
          </a:xfrm>
          <a:prstGeom prst="bentConnector2">
            <a:avLst/>
          </a:prstGeom>
          <a:ln w="22225">
            <a:solidFill>
              <a:srgbClr val="1A202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</p:cNvCxnSpPr>
          <p:nvPr/>
        </p:nvCxnSpPr>
        <p:spPr>
          <a:xfrm rot="16200000" flipH="1">
            <a:off x="7251897" y="4983480"/>
            <a:ext cx="583809" cy="3"/>
          </a:xfrm>
          <a:prstGeom prst="bentConnector3">
            <a:avLst/>
          </a:prstGeom>
          <a:ln w="22225">
            <a:solidFill>
              <a:srgbClr val="1A202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  <a:stCxn id="7" idx="2"/>
          </p:cNvCxnSpPr>
          <p:nvPr/>
        </p:nvCxnSpPr>
        <p:spPr>
          <a:xfrm rot="5400000">
            <a:off x="9321257" y="2501939"/>
            <a:ext cx="285569" cy="3840476"/>
          </a:xfrm>
          <a:prstGeom prst="bentConnector2">
            <a:avLst/>
          </a:prstGeom>
          <a:ln w="22225">
            <a:solidFill>
              <a:srgbClr val="1A202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8679" y="7223760"/>
            <a:ext cx="1920240" cy="13716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Live OEE</a:t>
            </a:r>
          </a:p>
          <a:p>
            <a:pPr algn="l"/>
            <a:r>
              <a:rPr sz="900" b="0">
                <a:solidFill>
                  <a:srgbClr val="1A202C"/>
                </a:solidFill>
                <a:latin typeface="Calibri"/>
              </a:rPr>
              <a:t>•  plan vs actual</a:t>
            </a:r>
          </a:p>
          <a:p>
            <a:pPr algn="l"/>
            <a:r>
              <a:rPr sz="900" b="0">
                <a:solidFill>
                  <a:srgbClr val="1A202C"/>
                </a:solidFill>
                <a:latin typeface="Calibri"/>
              </a:rPr>
              <a:t>•  hourly rollup</a:t>
            </a:r>
          </a:p>
          <a:p>
            <a:pPr algn="l"/>
            <a:r>
              <a:rPr sz="900" b="0">
                <a:solidFill>
                  <a:srgbClr val="1A202C"/>
                </a:solidFill>
                <a:latin typeface="Calibri"/>
              </a:rPr>
              <a:t>•  loss breakdown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799" y="7223760"/>
            <a:ext cx="1920240" cy="13716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Breakdown</a:t>
            </a:r>
          </a:p>
          <a:p>
            <a:pPr algn="l"/>
            <a:r>
              <a:rPr sz="900" b="0">
                <a:solidFill>
                  <a:srgbClr val="1A202C"/>
                </a:solidFill>
                <a:latin typeface="Calibri"/>
              </a:rPr>
              <a:t>•  slip + cause</a:t>
            </a:r>
          </a:p>
          <a:p>
            <a:pPr algn="l"/>
            <a:r>
              <a:rPr sz="900" b="0">
                <a:solidFill>
                  <a:srgbClr val="1A202C"/>
                </a:solidFill>
                <a:latin typeface="Calibri"/>
              </a:rPr>
              <a:t>•  duration</a:t>
            </a:r>
          </a:p>
          <a:p>
            <a:pPr algn="l"/>
            <a:r>
              <a:rPr sz="900" b="0">
                <a:solidFill>
                  <a:srgbClr val="1A202C"/>
                </a:solidFill>
                <a:latin typeface="Calibri"/>
              </a:rPr>
              <a:t>•  MTBF / MTTR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7223760"/>
            <a:ext cx="1920240" cy="13716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Poka-Yoke</a:t>
            </a:r>
          </a:p>
          <a:p>
            <a:pPr algn="l"/>
            <a:r>
              <a:rPr sz="900" b="0">
                <a:solidFill>
                  <a:srgbClr val="1A202C"/>
                </a:solidFill>
                <a:latin typeface="Calibri"/>
              </a:rPr>
              <a:t>•  bypass + stuck</a:t>
            </a:r>
          </a:p>
          <a:p>
            <a:pPr algn="l"/>
            <a:r>
              <a:rPr sz="900" b="0">
                <a:solidFill>
                  <a:srgbClr val="1A202C"/>
                </a:solidFill>
                <a:latin typeface="Calibri"/>
              </a:rPr>
              <a:t>•  email escalation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7223760"/>
            <a:ext cx="1920240" cy="13716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Process</a:t>
            </a:r>
          </a:p>
          <a:p>
            <a:pPr algn="l"/>
            <a:r>
              <a:rPr sz="900" b="0">
                <a:solidFill>
                  <a:srgbClr val="1A202C"/>
                </a:solidFill>
                <a:latin typeface="Calibri"/>
              </a:rPr>
              <a:t>•  per-min samples</a:t>
            </a:r>
          </a:p>
          <a:p>
            <a:pPr algn="l"/>
            <a:r>
              <a:rPr sz="900" b="0">
                <a:solidFill>
                  <a:srgbClr val="1A202C"/>
                </a:solidFill>
                <a:latin typeface="Calibri"/>
              </a:rPr>
              <a:t>•  vs target</a:t>
            </a:r>
          </a:p>
          <a:p>
            <a:pPr algn="l"/>
            <a:r>
              <a:rPr sz="900" b="0">
                <a:solidFill>
                  <a:srgbClr val="1A202C"/>
                </a:solidFill>
                <a:latin typeface="Calibri"/>
              </a:rPr>
              <a:t>•  → side panel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7223760"/>
            <a:ext cx="1920240" cy="13716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Deviation</a:t>
            </a:r>
          </a:p>
          <a:p>
            <a:pPr algn="l"/>
            <a:r>
              <a:rPr sz="900" b="0">
                <a:solidFill>
                  <a:srgbClr val="1A202C"/>
                </a:solidFill>
                <a:latin typeface="Calibri"/>
              </a:rPr>
              <a:t>•  Maint → Quality</a:t>
            </a:r>
          </a:p>
          <a:p>
            <a:pPr algn="l"/>
            <a:r>
              <a:rPr sz="900" b="0">
                <a:solidFill>
                  <a:srgbClr val="1A202C"/>
                </a:solidFill>
                <a:latin typeface="Calibri"/>
              </a:rPr>
              <a:t>•  approval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658600" y="7178040"/>
            <a:ext cx="2560320" cy="1828800"/>
          </a:xfrm>
          <a:prstGeom prst="roundRect">
            <a:avLst/>
          </a:prstGeom>
          <a:solidFill>
            <a:srgbClr val="4A5568"/>
          </a:solidFill>
          <a:ln w="15875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Calibri"/>
              </a:rPr>
              <a:t>Side Panel</a:t>
            </a:r>
          </a:p>
          <a:p>
            <a:pPr algn="l"/>
            <a:r>
              <a:rPr sz="900" b="0" dirty="0">
                <a:solidFill>
                  <a:srgbClr val="1A202C"/>
                </a:solidFill>
                <a:latin typeface="Calibri"/>
              </a:rPr>
              <a:t>•  Main Assembly</a:t>
            </a:r>
          </a:p>
          <a:p>
            <a:pPr algn="l"/>
            <a:r>
              <a:rPr sz="900" b="0" dirty="0">
                <a:solidFill>
                  <a:srgbClr val="1A202C"/>
                </a:solidFill>
                <a:latin typeface="Calibri"/>
              </a:rPr>
              <a:t>•  Upper Rail Greasing</a:t>
            </a:r>
          </a:p>
          <a:p>
            <a:pPr algn="l"/>
            <a:r>
              <a:rPr sz="900" b="0" dirty="0">
                <a:solidFill>
                  <a:srgbClr val="1A202C"/>
                </a:solidFill>
                <a:latin typeface="Calibri"/>
              </a:rPr>
              <a:t>•  Lock Bar Insert</a:t>
            </a:r>
          </a:p>
          <a:p>
            <a:pPr algn="l"/>
            <a:r>
              <a:rPr sz="900" b="0" dirty="0">
                <a:solidFill>
                  <a:srgbClr val="1A202C"/>
                </a:solidFill>
                <a:latin typeface="Calibri"/>
              </a:rPr>
              <a:t>•  Lower Rail Greasing</a:t>
            </a:r>
          </a:p>
          <a:p>
            <a:pPr algn="l"/>
            <a:r>
              <a:rPr sz="900" b="0" dirty="0">
                <a:solidFill>
                  <a:srgbClr val="1A202C"/>
                </a:solidFill>
                <a:latin typeface="Calibri"/>
              </a:rPr>
              <a:t>•  (per-min bar chart vs target)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98280" y="7909560"/>
            <a:ext cx="2560320" cy="0"/>
          </a:xfrm>
          <a:prstGeom prst="bentConnector3">
            <a:avLst/>
          </a:prstGeom>
          <a:ln w="15875">
            <a:solidFill>
              <a:srgbClr val="4A5568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828799" y="6812279"/>
            <a:ext cx="5715001" cy="411481"/>
          </a:xfrm>
          <a:prstGeom prst="bentConnector3">
            <a:avLst/>
          </a:prstGeom>
          <a:ln w="22225">
            <a:solidFill>
              <a:srgbClr val="1A202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931920" y="6812279"/>
            <a:ext cx="3611880" cy="411481"/>
          </a:xfrm>
          <a:prstGeom prst="bentConnector3">
            <a:avLst/>
          </a:prstGeom>
          <a:ln w="22225">
            <a:solidFill>
              <a:srgbClr val="1A202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035040" y="6812279"/>
            <a:ext cx="1508760" cy="411481"/>
          </a:xfrm>
          <a:prstGeom prst="bentConnector3">
            <a:avLst/>
          </a:prstGeom>
          <a:ln w="22225">
            <a:solidFill>
              <a:srgbClr val="1A202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543800" y="6812279"/>
            <a:ext cx="594360" cy="411481"/>
          </a:xfrm>
          <a:prstGeom prst="bentConnector3">
            <a:avLst/>
          </a:prstGeom>
          <a:ln w="22225">
            <a:solidFill>
              <a:srgbClr val="1A202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543800" y="6812279"/>
            <a:ext cx="2697480" cy="411481"/>
          </a:xfrm>
          <a:prstGeom prst="bentConnector3">
            <a:avLst/>
          </a:prstGeom>
          <a:ln w="22225">
            <a:solidFill>
              <a:srgbClr val="1A202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234439" y="9144000"/>
            <a:ext cx="2194560" cy="1005840"/>
          </a:xfrm>
          <a:prstGeom prst="ellipse">
            <a:avLst/>
          </a:prstGeom>
          <a:solidFill>
            <a:srgbClr val="15803D"/>
          </a:solidFill>
          <a:ln w="22225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Production Team</a:t>
            </a:r>
          </a:p>
        </p:txBody>
      </p:sp>
      <p:sp>
        <p:nvSpPr>
          <p:cNvPr id="29" name="Oval 28"/>
          <p:cNvSpPr/>
          <p:nvPr/>
        </p:nvSpPr>
        <p:spPr>
          <a:xfrm>
            <a:off x="3840479" y="9144000"/>
            <a:ext cx="2194560" cy="1005840"/>
          </a:xfrm>
          <a:prstGeom prst="ellipse">
            <a:avLst/>
          </a:prstGeom>
          <a:solidFill>
            <a:srgbClr val="B91C1C"/>
          </a:solidFill>
          <a:ln w="22225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Maintenance Team</a:t>
            </a:r>
          </a:p>
        </p:txBody>
      </p:sp>
      <p:sp>
        <p:nvSpPr>
          <p:cNvPr id="30" name="Oval 29"/>
          <p:cNvSpPr/>
          <p:nvPr/>
        </p:nvSpPr>
        <p:spPr>
          <a:xfrm>
            <a:off x="6446519" y="9144000"/>
            <a:ext cx="2194560" cy="1005840"/>
          </a:xfrm>
          <a:prstGeom prst="ellipse">
            <a:avLst/>
          </a:prstGeom>
          <a:solidFill>
            <a:srgbClr val="A16207"/>
          </a:solidFill>
          <a:ln w="22225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Quality Team</a:t>
            </a:r>
          </a:p>
        </p:txBody>
      </p:sp>
      <p:sp>
        <p:nvSpPr>
          <p:cNvPr id="31" name="Oval 30"/>
          <p:cNvSpPr/>
          <p:nvPr/>
        </p:nvSpPr>
        <p:spPr>
          <a:xfrm>
            <a:off x="9052559" y="9144000"/>
            <a:ext cx="2194560" cy="1005840"/>
          </a:xfrm>
          <a:prstGeom prst="ellipse">
            <a:avLst/>
          </a:prstGeom>
          <a:solidFill>
            <a:srgbClr val="1E40AF"/>
          </a:solidFill>
          <a:ln w="22225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Admin / Plant Head</a:t>
            </a:r>
          </a:p>
        </p:txBody>
      </p:sp>
      <p:sp>
        <p:nvSpPr>
          <p:cNvPr id="32" name="Oval 31"/>
          <p:cNvSpPr/>
          <p:nvPr/>
        </p:nvSpPr>
        <p:spPr>
          <a:xfrm>
            <a:off x="11658599" y="9144000"/>
            <a:ext cx="2194560" cy="1005840"/>
          </a:xfrm>
          <a:prstGeom prst="ellipse">
            <a:avLst/>
          </a:prstGeom>
          <a:solidFill>
            <a:srgbClr val="475569"/>
          </a:solidFill>
          <a:ln w="22225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Operator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828799" y="8595360"/>
            <a:ext cx="502921" cy="548640"/>
          </a:xfrm>
          <a:prstGeom prst="bentConnector3">
            <a:avLst/>
          </a:prstGeom>
          <a:ln w="9525">
            <a:solidFill>
              <a:srgbClr val="E2E8F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28799" y="8595360"/>
            <a:ext cx="8321040" cy="548640"/>
          </a:xfrm>
          <a:prstGeom prst="bentConnector3">
            <a:avLst/>
          </a:prstGeom>
          <a:ln w="9525">
            <a:solidFill>
              <a:srgbClr val="E2E8F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2331720" y="8595360"/>
            <a:ext cx="1600200" cy="548640"/>
          </a:xfrm>
          <a:prstGeom prst="bentConnector3">
            <a:avLst/>
          </a:prstGeom>
          <a:ln w="9525">
            <a:solidFill>
              <a:srgbClr val="E2E8F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931920" y="8595360"/>
            <a:ext cx="1005839" cy="548640"/>
          </a:xfrm>
          <a:prstGeom prst="bentConnector3">
            <a:avLst/>
          </a:prstGeom>
          <a:ln w="9525">
            <a:solidFill>
              <a:srgbClr val="E2E8F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931920" y="8595360"/>
            <a:ext cx="6217919" cy="548640"/>
          </a:xfrm>
          <a:prstGeom prst="bentConnector3">
            <a:avLst/>
          </a:prstGeom>
          <a:ln w="9525">
            <a:solidFill>
              <a:srgbClr val="E2E8F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4937759" y="8595360"/>
            <a:ext cx="1097281" cy="548640"/>
          </a:xfrm>
          <a:prstGeom prst="bentConnector3">
            <a:avLst/>
          </a:prstGeom>
          <a:ln w="9525">
            <a:solidFill>
              <a:srgbClr val="E2E8F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35040" y="8595360"/>
            <a:ext cx="1508759" cy="548640"/>
          </a:xfrm>
          <a:prstGeom prst="bentConnector3">
            <a:avLst/>
          </a:prstGeom>
          <a:ln w="9525">
            <a:solidFill>
              <a:srgbClr val="E2E8F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035040" y="8595360"/>
            <a:ext cx="4114799" cy="548640"/>
          </a:xfrm>
          <a:prstGeom prst="bentConnector3">
            <a:avLst/>
          </a:prstGeom>
          <a:ln w="9525">
            <a:solidFill>
              <a:srgbClr val="E2E8F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2331720" y="8595360"/>
            <a:ext cx="5806440" cy="548640"/>
          </a:xfrm>
          <a:prstGeom prst="bentConnector3">
            <a:avLst/>
          </a:prstGeom>
          <a:ln w="9525">
            <a:solidFill>
              <a:srgbClr val="E2E8F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138160" y="8595360"/>
            <a:ext cx="2011679" cy="548640"/>
          </a:xfrm>
          <a:prstGeom prst="bentConnector3">
            <a:avLst/>
          </a:prstGeom>
          <a:ln w="9525">
            <a:solidFill>
              <a:srgbClr val="E2E8F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4937759" y="8595360"/>
            <a:ext cx="5303521" cy="548640"/>
          </a:xfrm>
          <a:prstGeom prst="bentConnector3">
            <a:avLst/>
          </a:prstGeom>
          <a:ln w="9525">
            <a:solidFill>
              <a:srgbClr val="E2E8F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7543799" y="8595360"/>
            <a:ext cx="2697481" cy="548640"/>
          </a:xfrm>
          <a:prstGeom prst="bentConnector3">
            <a:avLst/>
          </a:prstGeom>
          <a:ln w="9525">
            <a:solidFill>
              <a:srgbClr val="E2E8F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10149839" y="8595360"/>
            <a:ext cx="91441" cy="548640"/>
          </a:xfrm>
          <a:prstGeom prst="bentConnector3">
            <a:avLst/>
          </a:prstGeom>
          <a:ln w="9525">
            <a:solidFill>
              <a:srgbClr val="E2E8F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828799" y="8595360"/>
            <a:ext cx="10927080" cy="548640"/>
          </a:xfrm>
          <a:prstGeom prst="bentConnector3">
            <a:avLst/>
          </a:prstGeom>
          <a:ln w="9525">
            <a:solidFill>
              <a:srgbClr val="4A5568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0" y="10287000"/>
            <a:ext cx="150876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/>
            <a:r>
              <a:rPr sz="900" b="0" i="1">
                <a:solidFill>
                  <a:srgbClr val="4A5568"/>
                </a:solidFill>
                <a:latin typeface="Calibri"/>
              </a:rPr>
              <a:t>Solid arrows = primary data flow.   Operators see only their own assigned lines.   Internal — Toyota Boshoku Device India, Bawal.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FCBF783-2C48-7245-F5C0-880F8699DF8A}"/>
              </a:ext>
            </a:extLst>
          </p:cNvPr>
          <p:cNvCxnSpPr>
            <a:cxnSpLocks/>
            <a:endCxn id="5" idx="0"/>
          </p:cNvCxnSpPr>
          <p:nvPr/>
        </p:nvCxnSpPr>
        <p:spPr>
          <a:xfrm flipH="1">
            <a:off x="3703319" y="2423159"/>
            <a:ext cx="1" cy="320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25E1A55-F418-D957-738D-AE8C1CEA37CD}"/>
              </a:ext>
            </a:extLst>
          </p:cNvPr>
          <p:cNvCxnSpPr/>
          <p:nvPr/>
        </p:nvCxnSpPr>
        <p:spPr>
          <a:xfrm flipH="1">
            <a:off x="11247117" y="2377440"/>
            <a:ext cx="1" cy="320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" name="Picture 60">
            <a:extLst>
              <a:ext uri="{FF2B5EF4-FFF2-40B4-BE49-F238E27FC236}">
                <a16:creationId xmlns:a16="http://schemas.microsoft.com/office/drawing/2014/main" id="{659CED38-BD47-8DF8-FEF7-5C1EDCF5A0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092" b="36715"/>
          <a:stretch>
            <a:fillRect/>
          </a:stretch>
        </p:blipFill>
        <p:spPr>
          <a:xfrm>
            <a:off x="6408419" y="4344101"/>
            <a:ext cx="2362200" cy="583810"/>
          </a:xfrm>
          <a:prstGeom prst="rect">
            <a:avLst/>
          </a:prstGeom>
        </p:spPr>
      </p:pic>
      <p:sp>
        <p:nvSpPr>
          <p:cNvPr id="63" name="Callout: Line 62">
            <a:extLst>
              <a:ext uri="{FF2B5EF4-FFF2-40B4-BE49-F238E27FC236}">
                <a16:creationId xmlns:a16="http://schemas.microsoft.com/office/drawing/2014/main" id="{2E6B9DE3-ECF2-456A-BE7C-C198F3CBB570}"/>
              </a:ext>
            </a:extLst>
          </p:cNvPr>
          <p:cNvSpPr/>
          <p:nvPr/>
        </p:nvSpPr>
        <p:spPr>
          <a:xfrm>
            <a:off x="11742418" y="4793736"/>
            <a:ext cx="879210" cy="523863"/>
          </a:xfrm>
          <a:prstGeom prst="borderCallout1">
            <a:avLst>
              <a:gd name="adj1" fmla="val 18750"/>
              <a:gd name="adj2" fmla="val -8333"/>
              <a:gd name="adj3" fmla="val -45937"/>
              <a:gd name="adj4" fmla="val -5593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177</Words>
  <Application>Microsoft Office PowerPoint</Application>
  <PresentationFormat>Custom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tbdi_dx</cp:lastModifiedBy>
  <cp:revision>25</cp:revision>
  <dcterms:created xsi:type="dcterms:W3CDTF">2013-01-27T09:14:16Z</dcterms:created>
  <dcterms:modified xsi:type="dcterms:W3CDTF">2026-05-05T13:05:57Z</dcterms:modified>
  <cp:category/>
</cp:coreProperties>
</file>